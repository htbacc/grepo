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27"/>
        <p:guide pos="3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8275" y="595630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Monthly Knowledge Sharing &amp; CTF Program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705" y="1445260"/>
            <a:ext cx="9144000" cy="508635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Real Attack-&gt;Detect-&gt;Fix-&gt;Document (6-month repeatable cycle)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688975" y="2228215"/>
            <a:ext cx="4453255" cy="995045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Octcome Focused program combining live exploit demos , SOC detection enginering , and monthly mini-CTFs</a:t>
            </a:r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5715635" y="2516505"/>
            <a:ext cx="1442720" cy="539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Exploit</a:t>
            </a: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251700" y="2780030"/>
            <a:ext cx="5207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ectangles 6"/>
          <p:cNvSpPr/>
          <p:nvPr/>
        </p:nvSpPr>
        <p:spPr>
          <a:xfrm>
            <a:off x="7811135" y="2516505"/>
            <a:ext cx="1442720" cy="539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Detect</a:t>
            </a: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384030" y="2780030"/>
            <a:ext cx="5207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Rectangles 8"/>
          <p:cNvSpPr/>
          <p:nvPr/>
        </p:nvSpPr>
        <p:spPr>
          <a:xfrm>
            <a:off x="10034905" y="2516505"/>
            <a:ext cx="1442720" cy="539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Document</a:t>
            </a:r>
            <a:endParaRPr lang="en-US"/>
          </a:p>
        </p:txBody>
      </p:sp>
      <p:sp>
        <p:nvSpPr>
          <p:cNvPr id="10" name="Subtitle 2"/>
          <p:cNvSpPr>
            <a:spLocks noGrp="1"/>
          </p:cNvSpPr>
          <p:nvPr/>
        </p:nvSpPr>
        <p:spPr>
          <a:xfrm>
            <a:off x="815340" y="3606165"/>
            <a:ext cx="8568690" cy="455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/>
              <a:t>Goal: Turn pen-test findings into measuarble detection &amp; remediation</a:t>
            </a:r>
            <a:endParaRPr lang="en-US" sz="1800"/>
          </a:p>
        </p:txBody>
      </p:sp>
      <p:sp>
        <p:nvSpPr>
          <p:cNvPr id="11" name="Subtitle 2"/>
          <p:cNvSpPr>
            <a:spLocks noGrp="1"/>
          </p:cNvSpPr>
          <p:nvPr/>
        </p:nvSpPr>
        <p:spPr>
          <a:xfrm>
            <a:off x="815975" y="4577715"/>
            <a:ext cx="8568690" cy="1069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/>
              <a:t>Prepared by: Mohammed Sharoz</a:t>
            </a:r>
            <a:endParaRPr lang="en-US" sz="1800"/>
          </a:p>
          <a:p>
            <a:pPr algn="just"/>
            <a:r>
              <a:rPr lang="en-US" sz="1800"/>
              <a:t>Audience     : SOC Team , Security Engineering , AppSec</a:t>
            </a:r>
            <a:endParaRPr lang="en-US" sz="1800"/>
          </a:p>
          <a:p>
            <a:pPr algn="just"/>
            <a:r>
              <a:rPr lang="en-US" sz="1800"/>
              <a:t>Date             : [TBD]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0" y="595630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Why This Program Exists </a:t>
            </a:r>
            <a:endParaRPr lang="en-US" sz="4000" b="1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098040" y="3053080"/>
            <a:ext cx="1160145" cy="8782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Pentest </a:t>
            </a:r>
            <a:endParaRPr lang="en-US"/>
          </a:p>
          <a:p>
            <a:pPr algn="just"/>
            <a:r>
              <a:rPr lang="en-US" b="1"/>
              <a:t>  Find </a:t>
            </a:r>
            <a:endParaRPr lang="en-US" b="1"/>
          </a:p>
        </p:txBody>
      </p:sp>
      <p:sp>
        <p:nvSpPr>
          <p:cNvPr id="10" name="Subtitle 2"/>
          <p:cNvSpPr>
            <a:spLocks noGrp="1"/>
          </p:cNvSpPr>
          <p:nvPr/>
        </p:nvSpPr>
        <p:spPr>
          <a:xfrm>
            <a:off x="3351530" y="4386580"/>
            <a:ext cx="8568690" cy="455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/>
              <a:t>Every Session outputs something that protects the company </a:t>
            </a:r>
            <a:endParaRPr lang="en-US" sz="1800" b="1"/>
          </a:p>
        </p:txBody>
      </p:sp>
      <p:sp>
        <p:nvSpPr>
          <p:cNvPr id="11" name="Subtitle 2"/>
          <p:cNvSpPr>
            <a:spLocks noGrp="1"/>
          </p:cNvSpPr>
          <p:nvPr/>
        </p:nvSpPr>
        <p:spPr>
          <a:xfrm>
            <a:off x="815975" y="5114925"/>
            <a:ext cx="10655300" cy="1069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/>
              <a:t>The initiative ensures that we do not just hack and report - we turn every learned attack into a detectable and preventable outcome. SOC becomes faster and more confident during live incidents </a:t>
            </a:r>
            <a:endParaRPr lang="en-US" sz="1800"/>
          </a:p>
        </p:txBody>
      </p:sp>
      <p:sp>
        <p:nvSpPr>
          <p:cNvPr id="13" name="Subtitle 2"/>
          <p:cNvSpPr>
            <a:spLocks noGrp="1"/>
          </p:cNvSpPr>
          <p:nvPr/>
        </p:nvSpPr>
        <p:spPr>
          <a:xfrm>
            <a:off x="5043170" y="3103245"/>
            <a:ext cx="1160145" cy="8782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  SOC</a:t>
            </a:r>
            <a:endParaRPr lang="en-US"/>
          </a:p>
          <a:p>
            <a:pPr algn="just"/>
            <a:r>
              <a:rPr lang="en-US" b="1"/>
              <a:t>Detect</a:t>
            </a:r>
            <a:endParaRPr lang="en-US" b="1"/>
          </a:p>
        </p:txBody>
      </p:sp>
      <p:sp>
        <p:nvSpPr>
          <p:cNvPr id="14" name="Subtitle 2"/>
          <p:cNvSpPr>
            <a:spLocks noGrp="1"/>
          </p:cNvSpPr>
          <p:nvPr/>
        </p:nvSpPr>
        <p:spPr>
          <a:xfrm>
            <a:off x="8696960" y="3053080"/>
            <a:ext cx="1611630" cy="8782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Leadership </a:t>
            </a:r>
            <a:endParaRPr lang="en-US"/>
          </a:p>
          <a:p>
            <a:pPr algn="just"/>
            <a:r>
              <a:rPr lang="en-US"/>
              <a:t>  </a:t>
            </a:r>
            <a:r>
              <a:rPr lang="en-US" b="1"/>
              <a:t>Measure</a:t>
            </a:r>
            <a:r>
              <a:rPr lang="en-US"/>
              <a:t> </a:t>
            </a:r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7240" y="1642110"/>
            <a:ext cx="1447800" cy="13620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b="33266"/>
          <a:stretch>
            <a:fillRect/>
          </a:stretch>
        </p:blipFill>
        <p:spPr>
          <a:xfrm>
            <a:off x="4731385" y="1745615"/>
            <a:ext cx="1685925" cy="12585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90" y="1642110"/>
            <a:ext cx="1581150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0" y="370205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How the monthly cycle works </a:t>
            </a:r>
            <a:endParaRPr lang="en-US" sz="4000" b="1" dirty="0"/>
          </a:p>
        </p:txBody>
      </p:sp>
      <p:sp>
        <p:nvSpPr>
          <p:cNvPr id="3" name="Oval 2"/>
          <p:cNvSpPr/>
          <p:nvPr/>
        </p:nvSpPr>
        <p:spPr>
          <a:xfrm>
            <a:off x="3502025" y="2310765"/>
            <a:ext cx="1167765" cy="10744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Exploit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991735" y="1363345"/>
            <a:ext cx="1167765" cy="10744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Map</a:t>
            </a: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481445" y="2310765"/>
            <a:ext cx="1167765" cy="10744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Detect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939155" y="3856990"/>
            <a:ext cx="1167765" cy="10744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Test</a:t>
            </a: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126865" y="3856990"/>
            <a:ext cx="1167765" cy="10744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/>
              <a:t>Repeat</a:t>
            </a:r>
            <a:endParaRPr lang="en-US" sz="1600"/>
          </a:p>
        </p:txBody>
      </p:sp>
      <p:cxnSp>
        <p:nvCxnSpPr>
          <p:cNvPr id="21" name="Curved Connector 20"/>
          <p:cNvCxnSpPr>
            <a:stCxn id="3" idx="0"/>
          </p:cNvCxnSpPr>
          <p:nvPr/>
        </p:nvCxnSpPr>
        <p:spPr>
          <a:xfrm rot="16200000">
            <a:off x="4294505" y="1670685"/>
            <a:ext cx="431800" cy="84899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9" idx="6"/>
            <a:endCxn id="12" idx="0"/>
          </p:cNvCxnSpPr>
          <p:nvPr/>
        </p:nvCxnSpPr>
        <p:spPr>
          <a:xfrm>
            <a:off x="6159500" y="1900555"/>
            <a:ext cx="906145" cy="41021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2" idx="5"/>
            <a:endCxn id="18" idx="6"/>
          </p:cNvCxnSpPr>
          <p:nvPr/>
        </p:nvCxnSpPr>
        <p:spPr>
          <a:xfrm rot="5400000">
            <a:off x="6709410" y="3624580"/>
            <a:ext cx="1166495" cy="37147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8" idx="4"/>
            <a:endCxn id="19" idx="4"/>
          </p:cNvCxnSpPr>
          <p:nvPr/>
        </p:nvCxnSpPr>
        <p:spPr>
          <a:xfrm rot="5400000">
            <a:off x="5617210" y="4025265"/>
            <a:ext cx="3175" cy="1812290"/>
          </a:xfrm>
          <a:prstGeom prst="curvedConnector3">
            <a:avLst>
              <a:gd name="adj1" fmla="val 75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9" idx="2"/>
            <a:endCxn id="3" idx="3"/>
          </p:cNvCxnSpPr>
          <p:nvPr/>
        </p:nvCxnSpPr>
        <p:spPr>
          <a:xfrm rot="10800000">
            <a:off x="3672205" y="3227070"/>
            <a:ext cx="454025" cy="116649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/>
        </p:nvSpPr>
        <p:spPr>
          <a:xfrm>
            <a:off x="2731135" y="5635625"/>
            <a:ext cx="9965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Every week creates a documented skill + measurable defensive output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0" y="370205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Red vs Blue - Advanced CTF Format </a:t>
            </a:r>
            <a:endParaRPr lang="en-US" sz="4000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668655" y="1657350"/>
            <a:ext cx="527875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Conducted on planned Duration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Live offensive attack chain on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Web Application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Linux Server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Misconfigured Cloud/ Infra (rotating)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SOC minotrs real SIEM logs during the attack</a:t>
            </a: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Scoring Model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Red Team -&gt; exploit success + stealth 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Blue Team -&gt; detection coverage + response quality</a:t>
            </a: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/>
              <a:t>Every CTF produces new detections + stronger playbooks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15735" y="5721350"/>
            <a:ext cx="5224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Every CTF run improves our defences permanently 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955915" y="1558925"/>
            <a:ext cx="1163320" cy="48704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Red Team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359900" y="1558925"/>
            <a:ext cx="134937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Blue Team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591550" y="2378710"/>
            <a:ext cx="134937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Recon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8591550" y="3097530"/>
            <a:ext cx="134937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Exploit</a:t>
            </a:r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591550" y="3782695"/>
            <a:ext cx="134937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Priv Esc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591550" y="4467860"/>
            <a:ext cx="134937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Persistence</a:t>
            </a: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8591550" y="5094605"/>
            <a:ext cx="1349375" cy="4870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Exfil</a:t>
            </a:r>
            <a:endParaRPr lang="en-US"/>
          </a:p>
        </p:txBody>
      </p:sp>
      <p:cxnSp>
        <p:nvCxnSpPr>
          <p:cNvPr id="16" name="Straight Arrow Connector 15"/>
          <p:cNvCxnSpPr>
            <a:stCxn id="10" idx="2"/>
            <a:endCxn id="11" idx="0"/>
          </p:cNvCxnSpPr>
          <p:nvPr/>
        </p:nvCxnSpPr>
        <p:spPr>
          <a:xfrm>
            <a:off x="9266555" y="2865755"/>
            <a:ext cx="0" cy="2317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2"/>
            <a:endCxn id="13" idx="0"/>
          </p:cNvCxnSpPr>
          <p:nvPr/>
        </p:nvCxnSpPr>
        <p:spPr>
          <a:xfrm>
            <a:off x="9266555" y="3584575"/>
            <a:ext cx="0" cy="198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3" idx="2"/>
            <a:endCxn id="14" idx="0"/>
          </p:cNvCxnSpPr>
          <p:nvPr/>
        </p:nvCxnSpPr>
        <p:spPr>
          <a:xfrm>
            <a:off x="9266555" y="4269740"/>
            <a:ext cx="0" cy="198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4" idx="2"/>
            <a:endCxn id="15" idx="0"/>
          </p:cNvCxnSpPr>
          <p:nvPr/>
        </p:nvCxnSpPr>
        <p:spPr>
          <a:xfrm>
            <a:off x="9266555" y="4954905"/>
            <a:ext cx="0" cy="139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0" y="370205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How we measure real Security Value </a:t>
            </a:r>
            <a:endParaRPr lang="en-US" sz="4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80" y="1240155"/>
            <a:ext cx="9648825" cy="41052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903220" y="5651500"/>
            <a:ext cx="8805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Every Session generates measurable operational outcomes </a:t>
            </a:r>
            <a:endParaRPr 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0" y="370205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Resources to Capture &amp; Track Value</a:t>
            </a:r>
            <a:endParaRPr lang="en-US" sz="4000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668655" y="1657350"/>
            <a:ext cx="43287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b="1"/>
              <a:t>Dashboards / Tracking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Excel for KPI tracking 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Excel/Power Bi Chart for Executive Reporting 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938645" y="1657350"/>
            <a:ext cx="43287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b="1"/>
              <a:t>Documentation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Exploit Playbooks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Detection Login and SIEM Rules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ATT&amp;CK mapping Rules 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33425" y="3699510"/>
            <a:ext cx="43287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b="1"/>
              <a:t>Knowledge Sharing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Recorded Session Videos and sharepoint page for 24/7 SOC Shifts  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938645" y="3693795"/>
            <a:ext cx="43287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b="1"/>
              <a:t>Lab Environment 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Test Servers &amp; Web Apps  for CTF Practice and Validation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733425" y="5351780"/>
            <a:ext cx="952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/>
              <a:t>Transparency and Repeatability are built-in ensures measurable improvement at every step 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180" y="370205"/>
            <a:ext cx="9144000" cy="741045"/>
          </a:xfrm>
        </p:spPr>
        <p:txBody>
          <a:bodyPr>
            <a:normAutofit/>
          </a:bodyPr>
          <a:lstStyle/>
          <a:p>
            <a:r>
              <a:rPr lang="en-US" sz="4000" b="1" dirty="0"/>
              <a:t>Real Security Value Delivered </a:t>
            </a:r>
            <a:endParaRPr lang="en-US" sz="4000" b="1" dirty="0"/>
          </a:p>
        </p:txBody>
      </p:sp>
      <p:sp>
        <p:nvSpPr>
          <p:cNvPr id="18" name="Text Box 17"/>
          <p:cNvSpPr txBox="1"/>
          <p:nvPr/>
        </p:nvSpPr>
        <p:spPr>
          <a:xfrm>
            <a:off x="733425" y="5351780"/>
            <a:ext cx="952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/>
              <a:t>Every monthly session + CTF directly improves security posture and measurable defense capability</a:t>
            </a:r>
            <a:endParaRPr lang="en-US" altLang="en-US"/>
          </a:p>
        </p:txBody>
      </p:sp>
      <p:sp>
        <p:nvSpPr>
          <p:cNvPr id="3" name="Rectangles 2"/>
          <p:cNvSpPr/>
          <p:nvPr/>
        </p:nvSpPr>
        <p:spPr>
          <a:xfrm>
            <a:off x="802005" y="1535430"/>
            <a:ext cx="4392295" cy="15030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6610985" y="1535430"/>
            <a:ext cx="4463415" cy="15030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794385" y="3613150"/>
            <a:ext cx="4423410" cy="13144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6626860" y="3613150"/>
            <a:ext cx="4447540" cy="131445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912495" y="1583055"/>
            <a:ext cx="40640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1600" b="1"/>
              <a:t>Operational SOC Improvements</a:t>
            </a:r>
            <a:endParaRPr lang="en-US" sz="1600" b="1"/>
          </a:p>
          <a:p>
            <a:pPr indent="0">
              <a:buFont typeface="Arial" panose="020B0604020202020204" pitchFamily="34" charset="0"/>
              <a:buNone/>
            </a:pPr>
            <a:endParaRPr lang="en-US" sz="1600"/>
          </a:p>
          <a:p>
            <a:pPr indent="0">
              <a:buFont typeface="Arial" panose="020B0604020202020204" pitchFamily="34" charset="0"/>
              <a:buNone/>
            </a:pPr>
            <a:r>
              <a:rPr lang="en-US" sz="1600">
                <a:sym typeface="+mn-ea"/>
              </a:rPr>
              <a:t>Faster Detection and Containment  </a:t>
            </a:r>
            <a:endParaRPr lang="en-US" sz="1600"/>
          </a:p>
          <a:p>
            <a:pPr indent="0">
              <a:buFont typeface="Arial" panose="020B0604020202020204" pitchFamily="34" charset="0"/>
              <a:buNone/>
            </a:pPr>
            <a:r>
              <a:rPr lang="en-US" sz="1600">
                <a:sym typeface="+mn-ea"/>
              </a:rPr>
              <a:t>Reduced False Positives  </a:t>
            </a:r>
            <a:endParaRPr lang="en-US" sz="1600"/>
          </a:p>
          <a:p>
            <a:pPr algn="ctr"/>
            <a:endParaRPr lang="en-US"/>
          </a:p>
          <a:p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6626860" y="1330960"/>
            <a:ext cx="4064000" cy="123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sz="1600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1600" b="1"/>
              <a:t>PenTest/ AppSec Gains</a:t>
            </a:r>
            <a:endParaRPr lang="en-US" sz="1600"/>
          </a:p>
          <a:p>
            <a:pPr indent="0">
              <a:buFont typeface="Arial" panose="020B0604020202020204" pitchFamily="34" charset="0"/>
              <a:buNone/>
            </a:pPr>
            <a:endParaRPr lang="en-US" sz="1600"/>
          </a:p>
          <a:p>
            <a:pPr indent="0">
              <a:buFont typeface="Arial" panose="020B0604020202020204" pitchFamily="34" charset="0"/>
              <a:buNone/>
            </a:pPr>
            <a:r>
              <a:rPr lang="en-US" sz="1600">
                <a:sym typeface="+mn-ea"/>
              </a:rPr>
              <a:t>Exploit Paths Validated &amp; Closed </a:t>
            </a:r>
            <a:endParaRPr lang="en-US" sz="1600"/>
          </a:p>
          <a:p>
            <a:pPr indent="0">
              <a:buFont typeface="Arial" panose="020B0604020202020204" pitchFamily="34" charset="0"/>
              <a:buNone/>
            </a:pPr>
            <a:r>
              <a:rPr lang="en-US" sz="1600">
                <a:sym typeface="+mn-ea"/>
              </a:rPr>
              <a:t>Stronger mitgation guidance for devs   </a:t>
            </a:r>
            <a:endParaRPr lang="en-US" sz="1600"/>
          </a:p>
          <a:p>
            <a:pPr algn="ctr"/>
            <a:endParaRPr lang="en-US" sz="1600"/>
          </a:p>
          <a:p>
            <a:endParaRPr lang="en-US" sz="1600"/>
          </a:p>
        </p:txBody>
      </p:sp>
      <p:sp>
        <p:nvSpPr>
          <p:cNvPr id="16" name="Text Box 15"/>
          <p:cNvSpPr txBox="1"/>
          <p:nvPr/>
        </p:nvSpPr>
        <p:spPr>
          <a:xfrm>
            <a:off x="802005" y="337693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endParaRPr 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Knowledge &amp; culture 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>
                <a:sym typeface="+mn-ea"/>
              </a:rPr>
              <a:t>Cross-team learning &amp; retention </a:t>
            </a:r>
            <a:endParaRPr 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>
                <a:sym typeface="+mn-ea"/>
              </a:rPr>
              <a:t>24/7 coverage with recorded sessions   </a:t>
            </a:r>
            <a:endParaRPr lang="en-US"/>
          </a:p>
          <a:p>
            <a:pPr algn="ctr"/>
            <a:endParaRPr lang="en-US"/>
          </a:p>
          <a:p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626225" y="337693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endParaRPr lang="en-US" b="1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Leadership visibility 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Measurable KPIs -&gt; Risk reduction Stories 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r>
              <a:rPr lang="en-US"/>
              <a:t>MITRE coverage &amp; Detection Maturity </a:t>
            </a:r>
            <a:endParaRPr lang="en-US"/>
          </a:p>
          <a:p>
            <a:pPr algn="ctr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2347</Words>
  <Application>WPS Presentation</Application>
  <PresentationFormat>Widescreen</PresentationFormat>
  <Paragraphs>137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Monthly Knowledge Sharing &amp; CTF Program</vt:lpstr>
      <vt:lpstr>Why This Program Exists </vt:lpstr>
      <vt:lpstr>How the monthly cycle works </vt:lpstr>
      <vt:lpstr>Red vs Blue - Advanced CTF Format </vt:lpstr>
      <vt:lpstr>Red vs Blue - Advanced CTF Format </vt:lpstr>
      <vt:lpstr>Resources to Capture &amp; Track Value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htbaccount zal</cp:lastModifiedBy>
  <cp:revision>9</cp:revision>
  <dcterms:created xsi:type="dcterms:W3CDTF">2025-07-23T00:59:00Z</dcterms:created>
  <dcterms:modified xsi:type="dcterms:W3CDTF">2025-12-02T11:20:05Z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8ACAD638F2CE47CFAF8C50789C3FBD24_11</vt:lpwstr>
  </property>
  <property fmtid="{D5CDD505-2E9C-101B-9397-08002B2CF9AE}" pid="3" name="KSOProductBuildVer">
    <vt:lpwstr>1033-12.2.0.23155</vt:lpwstr>
  </property>
</Properties>
</file>